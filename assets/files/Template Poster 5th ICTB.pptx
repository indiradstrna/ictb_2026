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74100" cy="30276800"/>
  <p:notesSz cx="6858000" cy="9144000"/>
  <p:embeddedFontLst>
    <p:embeddedFont>
      <p:font typeface="Calibri (MS)" panose="020B0604020202020204" charset="0"/>
      <p:regular r:id="rId3"/>
    </p:embeddedFont>
    <p:embeddedFont>
      <p:font typeface="Calibri (MS) Bold" panose="020B0604020202020204" charset="0"/>
      <p:regular r:id="rId4"/>
    </p:embeddedFont>
    <p:embeddedFont>
      <p:font typeface="Poppins Bold" panose="020B0604020202020204" charset="0"/>
      <p:regular r:id="rId5"/>
    </p:embeddedFont>
    <p:embeddedFont>
      <p:font typeface="Poppins Medium" panose="00000600000000000000" pitchFamily="2" charset="0"/>
      <p:regular r:id="rId6"/>
    </p:embeddedFont>
    <p:embeddedFont>
      <p:font typeface="Poppins Medium Italics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146" y="-6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77637" y="595809"/>
            <a:ext cx="3973944" cy="1638932"/>
          </a:xfrm>
          <a:custGeom>
            <a:avLst/>
            <a:gdLst/>
            <a:ahLst/>
            <a:cxnLst/>
            <a:rect l="l" t="t" r="r" b="b"/>
            <a:pathLst>
              <a:path w="3973944" h="1638932">
                <a:moveTo>
                  <a:pt x="0" y="0"/>
                </a:moveTo>
                <a:lnTo>
                  <a:pt x="3973944" y="0"/>
                </a:lnTo>
                <a:lnTo>
                  <a:pt x="3973944" y="1638933"/>
                </a:lnTo>
                <a:lnTo>
                  <a:pt x="0" y="163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67" t="-220888" r="-67086" b="-222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0" y="-448092"/>
            <a:ext cx="2722459" cy="2087803"/>
            <a:chOff x="0" y="0"/>
            <a:chExt cx="3629946" cy="2783737"/>
          </a:xfrm>
        </p:grpSpPr>
        <p:sp>
          <p:nvSpPr>
            <p:cNvPr id="5" name="Freeform 5"/>
            <p:cNvSpPr/>
            <p:nvPr/>
          </p:nvSpPr>
          <p:spPr>
            <a:xfrm flipH="1">
              <a:off x="1028374" y="0"/>
              <a:ext cx="2601572" cy="2601572"/>
            </a:xfrm>
            <a:custGeom>
              <a:avLst/>
              <a:gdLst/>
              <a:ahLst/>
              <a:cxnLst/>
              <a:rect l="l" t="t" r="r" b="b"/>
              <a:pathLst>
                <a:path w="2601572" h="2601572">
                  <a:moveTo>
                    <a:pt x="2601572" y="0"/>
                  </a:moveTo>
                  <a:lnTo>
                    <a:pt x="0" y="0"/>
                  </a:lnTo>
                  <a:lnTo>
                    <a:pt x="0" y="2601572"/>
                  </a:lnTo>
                  <a:lnTo>
                    <a:pt x="2601572" y="2601572"/>
                  </a:lnTo>
                  <a:lnTo>
                    <a:pt x="2601572" y="0"/>
                  </a:lnTo>
                  <a:close/>
                </a:path>
              </a:pathLst>
            </a:custGeom>
            <a:blipFill>
              <a:blip>
                <a:alphaModFix amt="9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916467">
              <a:off x="140530" y="1196148"/>
              <a:ext cx="2048099" cy="1341505"/>
            </a:xfrm>
            <a:custGeom>
              <a:avLst/>
              <a:gdLst/>
              <a:ahLst/>
              <a:cxnLst/>
              <a:rect l="l" t="t" r="r" b="b"/>
              <a:pathLst>
                <a:path w="2048099" h="1341505">
                  <a:moveTo>
                    <a:pt x="0" y="0"/>
                  </a:moveTo>
                  <a:lnTo>
                    <a:pt x="2048099" y="0"/>
                  </a:lnTo>
                  <a:lnTo>
                    <a:pt x="2048099" y="1341505"/>
                  </a:lnTo>
                  <a:lnTo>
                    <a:pt x="0" y="1341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418185" y="263914"/>
            <a:ext cx="2201275" cy="2751593"/>
          </a:xfrm>
          <a:custGeom>
            <a:avLst/>
            <a:gdLst/>
            <a:ahLst/>
            <a:cxnLst/>
            <a:rect l="l" t="t" r="r" b="b"/>
            <a:pathLst>
              <a:path w="2201275" h="2751593">
                <a:moveTo>
                  <a:pt x="0" y="0"/>
                </a:moveTo>
                <a:lnTo>
                  <a:pt x="2201275" y="0"/>
                </a:lnTo>
                <a:lnTo>
                  <a:pt x="2201275" y="2751593"/>
                </a:lnTo>
                <a:lnTo>
                  <a:pt x="0" y="2751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3697" y="3256301"/>
            <a:ext cx="18730250" cy="177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CLICK HERE, TYPE THE TITLE OF YOUR PAPER, CAPITALIZE ALL LETTERS, TITLE MAXIMUM 14 WORDS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6875" y="9577235"/>
            <a:ext cx="5250872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Fill in the content of your manuscript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50799" y="1185902"/>
            <a:ext cx="2333149" cy="39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  <a:spcBef>
                <a:spcPct val="0"/>
              </a:spcBef>
            </a:pPr>
            <a:r>
              <a:rPr lang="en-US" sz="2189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5ICTB-AUT-0077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64609" y="5334656"/>
            <a:ext cx="15108426" cy="238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6"/>
              </a:lnSpc>
              <a:spcBef>
                <a:spcPct val="0"/>
              </a:spcBef>
            </a:pPr>
            <a:r>
              <a:rPr lang="en-US" sz="339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author1, Second Author2, and Corresponding Author3*</a:t>
            </a:r>
          </a:p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4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1Department/Study Program, Faculty, University, City with Postal Code, Country; 1Center/Division/Laboratory, Institution, City with Postal Code, Country</a:t>
            </a:r>
          </a:p>
          <a:p>
            <a:pPr algn="ctr">
              <a:lnSpc>
                <a:spcPts val="3951"/>
              </a:lnSpc>
              <a:spcBef>
                <a:spcPct val="0"/>
              </a:spcBef>
            </a:pPr>
            <a:r>
              <a:rPr lang="en-US" sz="2822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*Corresponding author, e-mail: isnotalways@the.first.author</a:t>
            </a:r>
          </a:p>
          <a:p>
            <a:pPr algn="ctr">
              <a:lnSpc>
                <a:spcPts val="3081"/>
              </a:lnSpc>
              <a:spcBef>
                <a:spcPct val="0"/>
              </a:spcBef>
            </a:pPr>
            <a:endParaRPr lang="en-US" sz="2822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53658" y="29050455"/>
            <a:ext cx="863784" cy="1079730"/>
          </a:xfrm>
          <a:custGeom>
            <a:avLst/>
            <a:gdLst/>
            <a:ahLst/>
            <a:cxnLst/>
            <a:rect l="l" t="t" r="r" b="b"/>
            <a:pathLst>
              <a:path w="863784" h="1079730">
                <a:moveTo>
                  <a:pt x="0" y="0"/>
                </a:moveTo>
                <a:lnTo>
                  <a:pt x="863784" y="0"/>
                </a:lnTo>
                <a:lnTo>
                  <a:pt x="863784" y="1079730"/>
                </a:lnTo>
                <a:lnTo>
                  <a:pt x="0" y="10797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29175028"/>
            <a:ext cx="13275165" cy="1327517"/>
          </a:xfrm>
          <a:custGeom>
            <a:avLst/>
            <a:gdLst/>
            <a:ahLst/>
            <a:cxnLst/>
            <a:rect l="l" t="t" r="r" b="b"/>
            <a:pathLst>
              <a:path w="13275165" h="1327517">
                <a:moveTo>
                  <a:pt x="0" y="0"/>
                </a:moveTo>
                <a:lnTo>
                  <a:pt x="13275165" y="0"/>
                </a:lnTo>
                <a:lnTo>
                  <a:pt x="13275165" y="1327516"/>
                </a:lnTo>
                <a:lnTo>
                  <a:pt x="0" y="1327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1063855" y="29574185"/>
            <a:ext cx="10507554" cy="513187"/>
            <a:chOff x="0" y="0"/>
            <a:chExt cx="2358794" cy="1152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794" cy="115203"/>
            </a:xfrm>
            <a:custGeom>
              <a:avLst/>
              <a:gdLst/>
              <a:ahLst/>
              <a:cxnLst/>
              <a:rect l="l" t="t" r="r" b="b"/>
              <a:pathLst>
                <a:path w="2358794" h="115203">
                  <a:moveTo>
                    <a:pt x="0" y="0"/>
                  </a:moveTo>
                  <a:lnTo>
                    <a:pt x="2358794" y="0"/>
                  </a:lnTo>
                  <a:lnTo>
                    <a:pt x="2358794" y="115203"/>
                  </a:lnTo>
                  <a:lnTo>
                    <a:pt x="0" y="115203"/>
                  </a:lnTo>
                  <a:close/>
                </a:path>
              </a:pathLst>
            </a:custGeom>
            <a:solidFill>
              <a:srgbClr val="FBA50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358794" cy="181878"/>
            </a:xfrm>
            <a:prstGeom prst="rect">
              <a:avLst/>
            </a:prstGeom>
          </p:spPr>
          <p:txBody>
            <a:bodyPr lIns="59600" tIns="59600" rIns="59600" bIns="596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66149" y="29714476"/>
            <a:ext cx="6452036" cy="281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46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5TH INTERNATIONAL CONFERENCE ON TROPICAL BIOLOGY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65782" y="29693603"/>
            <a:ext cx="11485531" cy="2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6"/>
              </a:lnSpc>
            </a:pPr>
            <a:r>
              <a:rPr lang="en-US" sz="1600" b="1" i="1" dirty="0">
                <a:solidFill>
                  <a:srgbClr val="FFFFFF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Biodiversity Beyond Boundaries: Advancing Global Education, Bio-Science, and Sustainable Landscapes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386345" y="28477459"/>
            <a:ext cx="1322181" cy="1652726"/>
          </a:xfrm>
          <a:custGeom>
            <a:avLst/>
            <a:gdLst/>
            <a:ahLst/>
            <a:cxnLst/>
            <a:rect l="l" t="t" r="r" b="b"/>
            <a:pathLst>
              <a:path w="1322181" h="1652726">
                <a:moveTo>
                  <a:pt x="0" y="0"/>
                </a:moveTo>
                <a:lnTo>
                  <a:pt x="1322181" y="0"/>
                </a:lnTo>
                <a:lnTo>
                  <a:pt x="1322181" y="1652726"/>
                </a:lnTo>
                <a:lnTo>
                  <a:pt x="0" y="1652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61230" y="8613295"/>
            <a:ext cx="611515" cy="6115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923" y="0"/>
                  </a:moveTo>
                  <a:lnTo>
                    <a:pt x="660877" y="0"/>
                  </a:lnTo>
                  <a:cubicBezTo>
                    <a:pt x="701170" y="0"/>
                    <a:pt x="739812" y="16006"/>
                    <a:pt x="768303" y="44497"/>
                  </a:cubicBezTo>
                  <a:cubicBezTo>
                    <a:pt x="796794" y="72988"/>
                    <a:pt x="812800" y="111630"/>
                    <a:pt x="812800" y="151923"/>
                  </a:cubicBezTo>
                  <a:lnTo>
                    <a:pt x="812800" y="660877"/>
                  </a:lnTo>
                  <a:cubicBezTo>
                    <a:pt x="812800" y="701170"/>
                    <a:pt x="796794" y="739812"/>
                    <a:pt x="768303" y="768303"/>
                  </a:cubicBezTo>
                  <a:cubicBezTo>
                    <a:pt x="739812" y="796794"/>
                    <a:pt x="701170" y="812800"/>
                    <a:pt x="660877" y="812800"/>
                  </a:cubicBezTo>
                  <a:lnTo>
                    <a:pt x="151923" y="812800"/>
                  </a:lnTo>
                  <a:cubicBezTo>
                    <a:pt x="111630" y="812800"/>
                    <a:pt x="72988" y="796794"/>
                    <a:pt x="44497" y="768303"/>
                  </a:cubicBezTo>
                  <a:cubicBezTo>
                    <a:pt x="16006" y="739812"/>
                    <a:pt x="0" y="701170"/>
                    <a:pt x="0" y="660877"/>
                  </a:cubicBezTo>
                  <a:lnTo>
                    <a:pt x="0" y="151923"/>
                  </a:lnTo>
                  <a:cubicBezTo>
                    <a:pt x="0" y="111630"/>
                    <a:pt x="16006" y="72988"/>
                    <a:pt x="44497" y="44497"/>
                  </a:cubicBezTo>
                  <a:cubicBezTo>
                    <a:pt x="72988" y="16006"/>
                    <a:pt x="111630" y="0"/>
                    <a:pt x="151923" y="0"/>
                  </a:cubicBezTo>
                  <a:close/>
                </a:path>
              </a:pathLst>
            </a:custGeom>
            <a:solidFill>
              <a:srgbClr val="22551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23619" y="8497735"/>
            <a:ext cx="4254128" cy="682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A5703"/>
                </a:solidFill>
                <a:latin typeface="Poppins Bold"/>
                <a:ea typeface="Poppins Bold"/>
                <a:cs typeface="Poppins Bold"/>
                <a:sym typeface="Poppins Bold"/>
              </a:rPr>
              <a:t>Subsection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 (MS)</vt:lpstr>
      <vt:lpstr>Arial</vt:lpstr>
      <vt:lpstr>Poppins Bold</vt:lpstr>
      <vt:lpstr>Poppins Medium</vt:lpstr>
      <vt:lpstr>Poppins Medium Italics</vt:lpstr>
      <vt:lpstr>Calibri</vt:lpstr>
      <vt:lpstr>Calibri (MS)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Beyond Boundaries: Advancing Global Education, Bio-Science, and Sustainable Landscapes</dc:title>
  <cp:lastModifiedBy>haritz nugraha</cp:lastModifiedBy>
  <cp:revision>2</cp:revision>
  <dcterms:created xsi:type="dcterms:W3CDTF">2006-08-16T00:00:00Z</dcterms:created>
  <dcterms:modified xsi:type="dcterms:W3CDTF">2026-09-16T08:02:42Z</dcterms:modified>
  <dc:identifier>DAHVOiS7oQQ</dc:identifier>
</cp:coreProperties>
</file>