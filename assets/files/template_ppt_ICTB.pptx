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libri (MS)" panose="020B0604020202020204" charset="0"/>
      <p:regular r:id="rId8"/>
    </p:embeddedFont>
    <p:embeddedFont>
      <p:font typeface="Calibri (MS) Bold" panose="020B0604020202020204" charset="0"/>
      <p:regular r:id="rId9"/>
    </p:embeddedFont>
    <p:embeddedFont>
      <p:font typeface="Calibri (MS) Italics" panose="020B0604020202020204" charset="0"/>
      <p:regular r:id="rId10"/>
    </p:embeddedFont>
    <p:embeddedFont>
      <p:font typeface="Poppins Bold" panose="020B0604020202020204" charset="0"/>
      <p:regular r:id="rId11"/>
    </p:embeddedFont>
    <p:embeddedFont>
      <p:font typeface="Poppins Medium" panose="00000600000000000000" pitchFamily="2" charset="0"/>
      <p:regular r:id="rId12"/>
    </p:embeddedFont>
    <p:embeddedFont>
      <p:font typeface="Poppins Medium Italics" panose="020B0604020202020204" charset="0"/>
      <p:regular r:id="rId13"/>
    </p:embeddedFont>
    <p:embeddedFont>
      <p:font typeface="Poppins Semi-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954" y="95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054179" y="321231"/>
            <a:ext cx="2533304" cy="1044784"/>
          </a:xfrm>
          <a:custGeom>
            <a:avLst/>
            <a:gdLst/>
            <a:ahLst/>
            <a:cxnLst/>
            <a:rect l="l" t="t" r="r" b="b"/>
            <a:pathLst>
              <a:path w="2533304" h="1044784">
                <a:moveTo>
                  <a:pt x="0" y="0"/>
                </a:moveTo>
                <a:lnTo>
                  <a:pt x="2533304" y="0"/>
                </a:lnTo>
                <a:lnTo>
                  <a:pt x="2533304" y="1044784"/>
                </a:lnTo>
                <a:lnTo>
                  <a:pt x="0" y="104478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384909">
            <a:off x="15633656" y="7992250"/>
            <a:ext cx="2870077" cy="2621980"/>
          </a:xfrm>
          <a:custGeom>
            <a:avLst/>
            <a:gdLst/>
            <a:ahLst/>
            <a:cxnLst/>
            <a:rect l="l" t="t" r="r" b="b"/>
            <a:pathLst>
              <a:path w="2870077" h="2621980">
                <a:moveTo>
                  <a:pt x="0" y="0"/>
                </a:moveTo>
                <a:lnTo>
                  <a:pt x="2870077" y="0"/>
                </a:lnTo>
                <a:lnTo>
                  <a:pt x="2870077" y="2621980"/>
                </a:lnTo>
                <a:lnTo>
                  <a:pt x="0" y="262198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6022912">
            <a:off x="-333543" y="7634409"/>
            <a:ext cx="3187587" cy="2805077"/>
          </a:xfrm>
          <a:custGeom>
            <a:avLst/>
            <a:gdLst/>
            <a:ahLst/>
            <a:cxnLst/>
            <a:rect l="l" t="t" r="r" b="b"/>
            <a:pathLst>
              <a:path w="3187587" h="2805077">
                <a:moveTo>
                  <a:pt x="0" y="0"/>
                </a:moveTo>
                <a:lnTo>
                  <a:pt x="3187587" y="0"/>
                </a:lnTo>
                <a:lnTo>
                  <a:pt x="3187587" y="2805076"/>
                </a:lnTo>
                <a:lnTo>
                  <a:pt x="0" y="2805076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828942"/>
            <a:ext cx="2805077" cy="2805077"/>
          </a:xfrm>
          <a:custGeom>
            <a:avLst/>
            <a:gdLst/>
            <a:ahLst/>
            <a:cxnLst/>
            <a:rect l="l" t="t" r="r" b="b"/>
            <a:pathLst>
              <a:path w="2805077" h="2805077">
                <a:moveTo>
                  <a:pt x="0" y="0"/>
                </a:moveTo>
                <a:lnTo>
                  <a:pt x="2805077" y="0"/>
                </a:lnTo>
                <a:lnTo>
                  <a:pt x="2805077" y="2805077"/>
                </a:lnTo>
                <a:lnTo>
                  <a:pt x="0" y="2805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5674179" y="7828942"/>
            <a:ext cx="2805077" cy="2805077"/>
          </a:xfrm>
          <a:custGeom>
            <a:avLst/>
            <a:gdLst/>
            <a:ahLst/>
            <a:cxnLst/>
            <a:rect l="l" t="t" r="r" b="b"/>
            <a:pathLst>
              <a:path w="2805077" h="2805077">
                <a:moveTo>
                  <a:pt x="2805076" y="0"/>
                </a:moveTo>
                <a:lnTo>
                  <a:pt x="0" y="0"/>
                </a:lnTo>
                <a:lnTo>
                  <a:pt x="0" y="2805077"/>
                </a:lnTo>
                <a:lnTo>
                  <a:pt x="2805076" y="2805077"/>
                </a:lnTo>
                <a:lnTo>
                  <a:pt x="2805076" y="0"/>
                </a:lnTo>
                <a:close/>
              </a:path>
            </a:pathLst>
          </a:custGeom>
          <a:blipFill>
            <a:blip>
              <a:alphaModFix amt="9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2514970">
            <a:off x="-1167724" y="9377293"/>
            <a:ext cx="2208309" cy="1446442"/>
          </a:xfrm>
          <a:custGeom>
            <a:avLst/>
            <a:gdLst/>
            <a:ahLst/>
            <a:cxnLst/>
            <a:rect l="l" t="t" r="r" b="b"/>
            <a:pathLst>
              <a:path w="2208309" h="1446442">
                <a:moveTo>
                  <a:pt x="0" y="0"/>
                </a:moveTo>
                <a:lnTo>
                  <a:pt x="2208309" y="0"/>
                </a:lnTo>
                <a:lnTo>
                  <a:pt x="2208309" y="1446443"/>
                </a:lnTo>
                <a:lnTo>
                  <a:pt x="0" y="144644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916467">
            <a:off x="14664250" y="8988917"/>
            <a:ext cx="2208309" cy="1446442"/>
          </a:xfrm>
          <a:custGeom>
            <a:avLst/>
            <a:gdLst/>
            <a:ahLst/>
            <a:cxnLst/>
            <a:rect l="l" t="t" r="r" b="b"/>
            <a:pathLst>
              <a:path w="2208309" h="1446442">
                <a:moveTo>
                  <a:pt x="0" y="0"/>
                </a:moveTo>
                <a:lnTo>
                  <a:pt x="2208309" y="0"/>
                </a:lnTo>
                <a:lnTo>
                  <a:pt x="2208309" y="1446443"/>
                </a:lnTo>
                <a:lnTo>
                  <a:pt x="0" y="144644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738520" y="6464087"/>
            <a:ext cx="3164622" cy="3955778"/>
          </a:xfrm>
          <a:custGeom>
            <a:avLst/>
            <a:gdLst/>
            <a:ahLst/>
            <a:cxnLst/>
            <a:rect l="l" t="t" r="r" b="b"/>
            <a:pathLst>
              <a:path w="3164622" h="3955778">
                <a:moveTo>
                  <a:pt x="0" y="0"/>
                </a:moveTo>
                <a:lnTo>
                  <a:pt x="3164622" y="0"/>
                </a:lnTo>
                <a:lnTo>
                  <a:pt x="3164622" y="3955778"/>
                </a:lnTo>
                <a:lnTo>
                  <a:pt x="0" y="3955778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41200" y="2668692"/>
            <a:ext cx="13082942" cy="2486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9"/>
              </a:lnSpc>
              <a:spcBef>
                <a:spcPct val="0"/>
              </a:spcBef>
            </a:pPr>
            <a:r>
              <a:rPr lang="en-US" sz="46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CLICK HERE, TYPE THE TITLE OF YOUR PAPER, CAPITALIZE ALL LETTERS, TITLE MAXIMUM 14 WORDS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0250" y="2117649"/>
            <a:ext cx="10322150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5</a:t>
            </a:r>
            <a:r>
              <a:rPr lang="en-US" sz="2400" b="1" baseline="30000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</a:t>
            </a:r>
            <a:r>
              <a:rPr lang="en-US" sz="2400" b="1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INTERNATIONAL CONFERENCE ON TROPICAL BIOLOGY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0250" y="7033153"/>
            <a:ext cx="13082942" cy="192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First author</a:t>
            </a:r>
            <a:r>
              <a:rPr lang="en-US" sz="2800" b="1" baseline="3000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  <a:r>
              <a:rPr lang="en-US" sz="2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 Second Author</a:t>
            </a:r>
            <a:r>
              <a:rPr lang="en-US" sz="2800" b="1" baseline="3000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  <a:r>
              <a:rPr lang="en-US" sz="2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 and Corresponding Author</a:t>
            </a:r>
            <a:r>
              <a:rPr lang="en-US" sz="2800" b="1" baseline="3000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3*</a:t>
            </a:r>
          </a:p>
          <a:p>
            <a:pPr>
              <a:lnSpc>
                <a:spcPts val="3453"/>
              </a:lnSpc>
              <a:spcBef>
                <a:spcPct val="0"/>
              </a:spcBef>
            </a:pPr>
            <a:r>
              <a:rPr lang="en-US" baseline="3000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  <a:r>
              <a:rPr lang="en-US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Department/Study Program, Faculty, University, City with Postal Code, Country</a:t>
            </a:r>
            <a:br>
              <a:rPr lang="en-US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</a:br>
            <a:r>
              <a:rPr lang="en-US" baseline="3000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  <a:r>
              <a:rPr lang="en-US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Center/Division/Laboratory, Institution, City with Postal Code, Country</a:t>
            </a:r>
          </a:p>
          <a:p>
            <a:pPr>
              <a:lnSpc>
                <a:spcPts val="3453"/>
              </a:lnSpc>
              <a:spcBef>
                <a:spcPct val="0"/>
              </a:spcBef>
            </a:pPr>
            <a:r>
              <a:rPr lang="en-US" baseline="3000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*Corresponding author, e-mail: </a:t>
            </a:r>
            <a:r>
              <a:rPr lang="en-US" baseline="30000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isnotalways@the.first.author</a:t>
            </a:r>
            <a:endParaRPr lang="en-US" sz="2466" i="1" dirty="0">
              <a:solidFill>
                <a:srgbClr val="000000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7999" y="1061158"/>
            <a:ext cx="611515" cy="6115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923" y="0"/>
                  </a:moveTo>
                  <a:lnTo>
                    <a:pt x="660877" y="0"/>
                  </a:lnTo>
                  <a:cubicBezTo>
                    <a:pt x="701170" y="0"/>
                    <a:pt x="739812" y="16006"/>
                    <a:pt x="768303" y="44497"/>
                  </a:cubicBezTo>
                  <a:cubicBezTo>
                    <a:pt x="796794" y="72988"/>
                    <a:pt x="812800" y="111630"/>
                    <a:pt x="812800" y="151923"/>
                  </a:cubicBezTo>
                  <a:lnTo>
                    <a:pt x="812800" y="660877"/>
                  </a:lnTo>
                  <a:cubicBezTo>
                    <a:pt x="812800" y="701170"/>
                    <a:pt x="796794" y="739812"/>
                    <a:pt x="768303" y="768303"/>
                  </a:cubicBezTo>
                  <a:cubicBezTo>
                    <a:pt x="739812" y="796794"/>
                    <a:pt x="701170" y="812800"/>
                    <a:pt x="660877" y="812800"/>
                  </a:cubicBezTo>
                  <a:lnTo>
                    <a:pt x="151923" y="812800"/>
                  </a:lnTo>
                  <a:cubicBezTo>
                    <a:pt x="111630" y="812800"/>
                    <a:pt x="72988" y="796794"/>
                    <a:pt x="44497" y="768303"/>
                  </a:cubicBezTo>
                  <a:cubicBezTo>
                    <a:pt x="16006" y="739812"/>
                    <a:pt x="0" y="701170"/>
                    <a:pt x="0" y="660877"/>
                  </a:cubicBezTo>
                  <a:lnTo>
                    <a:pt x="0" y="151923"/>
                  </a:lnTo>
                  <a:cubicBezTo>
                    <a:pt x="0" y="111630"/>
                    <a:pt x="16006" y="72988"/>
                    <a:pt x="44497" y="44497"/>
                  </a:cubicBezTo>
                  <a:cubicBezTo>
                    <a:pt x="72988" y="16006"/>
                    <a:pt x="111630" y="0"/>
                    <a:pt x="151923" y="0"/>
                  </a:cubicBezTo>
                  <a:close/>
                </a:path>
              </a:pathLst>
            </a:custGeom>
            <a:solidFill>
              <a:srgbClr val="22551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274012" flipH="1">
            <a:off x="17008254" y="-528336"/>
            <a:ext cx="2135086" cy="2135086"/>
          </a:xfrm>
          <a:custGeom>
            <a:avLst/>
            <a:gdLst/>
            <a:ahLst/>
            <a:cxnLst/>
            <a:rect l="l" t="t" r="r" b="b"/>
            <a:pathLst>
              <a:path w="2135086" h="2135086">
                <a:moveTo>
                  <a:pt x="2135086" y="0"/>
                </a:moveTo>
                <a:lnTo>
                  <a:pt x="0" y="0"/>
                </a:lnTo>
                <a:lnTo>
                  <a:pt x="0" y="2135085"/>
                </a:lnTo>
                <a:lnTo>
                  <a:pt x="2135086" y="2135085"/>
                </a:lnTo>
                <a:lnTo>
                  <a:pt x="2135086" y="0"/>
                </a:lnTo>
                <a:close/>
              </a:path>
            </a:pathLst>
          </a:custGeom>
          <a:blipFill>
            <a:blip>
              <a:alphaModFix amt="9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274012" flipH="1" flipV="1">
            <a:off x="-815485" y="-528336"/>
            <a:ext cx="2135086" cy="2135086"/>
          </a:xfrm>
          <a:custGeom>
            <a:avLst/>
            <a:gdLst/>
            <a:ahLst/>
            <a:cxnLst/>
            <a:rect l="l" t="t" r="r" b="b"/>
            <a:pathLst>
              <a:path w="2135086" h="2135086">
                <a:moveTo>
                  <a:pt x="2135086" y="2135085"/>
                </a:moveTo>
                <a:lnTo>
                  <a:pt x="0" y="2135085"/>
                </a:lnTo>
                <a:lnTo>
                  <a:pt x="0" y="0"/>
                </a:lnTo>
                <a:lnTo>
                  <a:pt x="2135086" y="0"/>
                </a:lnTo>
                <a:lnTo>
                  <a:pt x="2135086" y="2135085"/>
                </a:lnTo>
                <a:close/>
              </a:path>
            </a:pathLst>
          </a:custGeom>
          <a:blipFill>
            <a:blip>
              <a:alphaModFix amt="9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8252" y="0"/>
            <a:ext cx="844737" cy="1408690"/>
          </a:xfrm>
          <a:custGeom>
            <a:avLst/>
            <a:gdLst/>
            <a:ahLst/>
            <a:cxnLst/>
            <a:rect l="l" t="t" r="r" b="b"/>
            <a:pathLst>
              <a:path w="4832077" h="8229600">
                <a:moveTo>
                  <a:pt x="0" y="0"/>
                </a:moveTo>
                <a:lnTo>
                  <a:pt x="4832077" y="0"/>
                </a:lnTo>
                <a:lnTo>
                  <a:pt x="483207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58889" y="9345896"/>
            <a:ext cx="736241" cy="920301"/>
          </a:xfrm>
          <a:custGeom>
            <a:avLst/>
            <a:gdLst/>
            <a:ahLst/>
            <a:cxnLst/>
            <a:rect l="l" t="t" r="r" b="b"/>
            <a:pathLst>
              <a:path w="736241" h="920301">
                <a:moveTo>
                  <a:pt x="0" y="0"/>
                </a:moveTo>
                <a:lnTo>
                  <a:pt x="736241" y="0"/>
                </a:lnTo>
                <a:lnTo>
                  <a:pt x="736241" y="920301"/>
                </a:lnTo>
                <a:lnTo>
                  <a:pt x="0" y="920301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382132" y="153604"/>
            <a:ext cx="1754336" cy="525855"/>
          </a:xfrm>
          <a:custGeom>
            <a:avLst/>
            <a:gdLst/>
            <a:ahLst/>
            <a:cxnLst/>
            <a:rect l="l" t="t" r="r" b="b"/>
            <a:pathLst>
              <a:path w="1754336" h="525855">
                <a:moveTo>
                  <a:pt x="0" y="0"/>
                </a:moveTo>
                <a:lnTo>
                  <a:pt x="1754336" y="0"/>
                </a:lnTo>
                <a:lnTo>
                  <a:pt x="1754336" y="525855"/>
                </a:lnTo>
                <a:lnTo>
                  <a:pt x="0" y="525855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98252" y="9452075"/>
            <a:ext cx="18386252" cy="1131500"/>
            <a:chOff x="0" y="0"/>
            <a:chExt cx="24515003" cy="15086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86669" cy="1508667"/>
            </a:xfrm>
            <a:custGeom>
              <a:avLst/>
              <a:gdLst/>
              <a:ahLst/>
              <a:cxnLst/>
              <a:rect l="l" t="t" r="r" b="b"/>
              <a:pathLst>
                <a:path w="15086669" h="1508667">
                  <a:moveTo>
                    <a:pt x="0" y="0"/>
                  </a:moveTo>
                  <a:lnTo>
                    <a:pt x="15086669" y="0"/>
                  </a:lnTo>
                  <a:lnTo>
                    <a:pt x="15086669" y="1508667"/>
                  </a:lnTo>
                  <a:lnTo>
                    <a:pt x="0" y="1508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12573608" y="453626"/>
              <a:ext cx="11941395" cy="583215"/>
              <a:chOff x="0" y="0"/>
              <a:chExt cx="2358794" cy="11520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358794" cy="115203"/>
              </a:xfrm>
              <a:custGeom>
                <a:avLst/>
                <a:gdLst/>
                <a:ahLst/>
                <a:cxnLst/>
                <a:rect l="l" t="t" r="r" b="b"/>
                <a:pathLst>
                  <a:path w="2358794" h="115203">
                    <a:moveTo>
                      <a:pt x="0" y="0"/>
                    </a:moveTo>
                    <a:lnTo>
                      <a:pt x="2358794" y="0"/>
                    </a:lnTo>
                    <a:lnTo>
                      <a:pt x="2358794" y="115203"/>
                    </a:lnTo>
                    <a:lnTo>
                      <a:pt x="0" y="115203"/>
                    </a:lnTo>
                    <a:close/>
                  </a:path>
                </a:pathLst>
              </a:custGeom>
              <a:solidFill>
                <a:srgbClr val="FBA503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2358794" cy="1818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195130" y="1993900"/>
            <a:ext cx="16370753" cy="3731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2" lvl="1" indent="-377826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You can use the section to help with the preparation of the presentation files</a:t>
            </a:r>
          </a:p>
          <a:p>
            <a:pPr marL="755652" lvl="1" indent="-377826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introduction section should be written in a way that is accessible to researchers without specialist knowledge in that area. Introduction should contain background and research objective. The section should be end with a brief statement of what is being reported in the article.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238664" y="861138"/>
            <a:ext cx="5305135" cy="816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A5703"/>
                </a:solidFill>
                <a:latin typeface="Poppins Bold"/>
                <a:ea typeface="Poppins Bold"/>
                <a:cs typeface="Poppins Bold"/>
                <a:sym typeface="Poppins Bold"/>
              </a:rPr>
              <a:t>Background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76426" y="9852442"/>
            <a:ext cx="5499351" cy="273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  <a:spcBef>
                <a:spcPct val="0"/>
              </a:spcBef>
            </a:pPr>
            <a:r>
              <a:rPr lang="en-US" sz="1428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5TH INTERNATIONAL CONFERENCE ON TROPICAL BIOLOGY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6179" y="9852442"/>
            <a:ext cx="9789618" cy="516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28" b="1" i="1">
                <a:solidFill>
                  <a:srgbClr val="FFFFFF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Biodiversity Beyond Boundaries: Advancing Global Education, Bio-Science, and Sustainable Landscapes</a:t>
            </a:r>
          </a:p>
          <a:p>
            <a:pPr algn="l">
              <a:lnSpc>
                <a:spcPts val="2000"/>
              </a:lnSpc>
              <a:spcBef>
                <a:spcPct val="0"/>
              </a:spcBef>
            </a:pPr>
            <a:endParaRPr lang="en-US" sz="1428" b="1" i="1">
              <a:solidFill>
                <a:srgbClr val="FFFFFF"/>
              </a:solidFill>
              <a:latin typeface="Poppins Medium Italics"/>
              <a:ea typeface="Poppins Medium Italics"/>
              <a:cs typeface="Poppins Medium Italics"/>
              <a:sym typeface="Poppins Medium Italics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231047" y="8857507"/>
            <a:ext cx="1126952" cy="1408690"/>
          </a:xfrm>
          <a:custGeom>
            <a:avLst/>
            <a:gdLst/>
            <a:ahLst/>
            <a:cxnLst/>
            <a:rect l="l" t="t" r="r" b="b"/>
            <a:pathLst>
              <a:path w="1126952" h="1408690">
                <a:moveTo>
                  <a:pt x="0" y="0"/>
                </a:moveTo>
                <a:lnTo>
                  <a:pt x="1126952" y="0"/>
                </a:lnTo>
                <a:lnTo>
                  <a:pt x="1126952" y="1408690"/>
                </a:lnTo>
                <a:lnTo>
                  <a:pt x="0" y="1408690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7999" y="1061158"/>
            <a:ext cx="611515" cy="6115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923" y="0"/>
                  </a:moveTo>
                  <a:lnTo>
                    <a:pt x="660877" y="0"/>
                  </a:lnTo>
                  <a:cubicBezTo>
                    <a:pt x="701170" y="0"/>
                    <a:pt x="739812" y="16006"/>
                    <a:pt x="768303" y="44497"/>
                  </a:cubicBezTo>
                  <a:cubicBezTo>
                    <a:pt x="796794" y="72988"/>
                    <a:pt x="812800" y="111630"/>
                    <a:pt x="812800" y="151923"/>
                  </a:cubicBezTo>
                  <a:lnTo>
                    <a:pt x="812800" y="660877"/>
                  </a:lnTo>
                  <a:cubicBezTo>
                    <a:pt x="812800" y="701170"/>
                    <a:pt x="796794" y="739812"/>
                    <a:pt x="768303" y="768303"/>
                  </a:cubicBezTo>
                  <a:cubicBezTo>
                    <a:pt x="739812" y="796794"/>
                    <a:pt x="701170" y="812800"/>
                    <a:pt x="660877" y="812800"/>
                  </a:cubicBezTo>
                  <a:lnTo>
                    <a:pt x="151923" y="812800"/>
                  </a:lnTo>
                  <a:cubicBezTo>
                    <a:pt x="111630" y="812800"/>
                    <a:pt x="72988" y="796794"/>
                    <a:pt x="44497" y="768303"/>
                  </a:cubicBezTo>
                  <a:cubicBezTo>
                    <a:pt x="16006" y="739812"/>
                    <a:pt x="0" y="701170"/>
                    <a:pt x="0" y="660877"/>
                  </a:cubicBezTo>
                  <a:lnTo>
                    <a:pt x="0" y="151923"/>
                  </a:lnTo>
                  <a:cubicBezTo>
                    <a:pt x="0" y="111630"/>
                    <a:pt x="16006" y="72988"/>
                    <a:pt x="44497" y="44497"/>
                  </a:cubicBezTo>
                  <a:cubicBezTo>
                    <a:pt x="72988" y="16006"/>
                    <a:pt x="111630" y="0"/>
                    <a:pt x="151923" y="0"/>
                  </a:cubicBezTo>
                  <a:close/>
                </a:path>
              </a:pathLst>
            </a:custGeom>
            <a:solidFill>
              <a:srgbClr val="22551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274012" flipH="1">
            <a:off x="17008254" y="-528336"/>
            <a:ext cx="2135086" cy="2135086"/>
          </a:xfrm>
          <a:custGeom>
            <a:avLst/>
            <a:gdLst/>
            <a:ahLst/>
            <a:cxnLst/>
            <a:rect l="l" t="t" r="r" b="b"/>
            <a:pathLst>
              <a:path w="2135086" h="2135086">
                <a:moveTo>
                  <a:pt x="2135086" y="0"/>
                </a:moveTo>
                <a:lnTo>
                  <a:pt x="0" y="0"/>
                </a:lnTo>
                <a:lnTo>
                  <a:pt x="0" y="2135085"/>
                </a:lnTo>
                <a:lnTo>
                  <a:pt x="2135086" y="2135085"/>
                </a:lnTo>
                <a:lnTo>
                  <a:pt x="2135086" y="0"/>
                </a:lnTo>
                <a:close/>
              </a:path>
            </a:pathLst>
          </a:custGeom>
          <a:blipFill>
            <a:blip>
              <a:alphaModFix amt="9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274012" flipH="1" flipV="1">
            <a:off x="-815485" y="-528336"/>
            <a:ext cx="2135086" cy="2135086"/>
          </a:xfrm>
          <a:custGeom>
            <a:avLst/>
            <a:gdLst/>
            <a:ahLst/>
            <a:cxnLst/>
            <a:rect l="l" t="t" r="r" b="b"/>
            <a:pathLst>
              <a:path w="2135086" h="2135086">
                <a:moveTo>
                  <a:pt x="2135086" y="2135085"/>
                </a:moveTo>
                <a:lnTo>
                  <a:pt x="0" y="2135085"/>
                </a:lnTo>
                <a:lnTo>
                  <a:pt x="0" y="0"/>
                </a:lnTo>
                <a:lnTo>
                  <a:pt x="2135086" y="0"/>
                </a:lnTo>
                <a:lnTo>
                  <a:pt x="2135086" y="2135085"/>
                </a:lnTo>
                <a:close/>
              </a:path>
            </a:pathLst>
          </a:custGeom>
          <a:blipFill>
            <a:blip>
              <a:alphaModFix amt="9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4610" y="0"/>
            <a:ext cx="1126952" cy="1645149"/>
          </a:xfrm>
          <a:custGeom>
            <a:avLst/>
            <a:gdLst/>
            <a:ahLst/>
            <a:cxnLst/>
            <a:rect l="l" t="t" r="r" b="b"/>
            <a:pathLst>
              <a:path w="4832077" h="8229600">
                <a:moveTo>
                  <a:pt x="0" y="0"/>
                </a:moveTo>
                <a:lnTo>
                  <a:pt x="4832077" y="0"/>
                </a:lnTo>
                <a:lnTo>
                  <a:pt x="483207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58889" y="9345896"/>
            <a:ext cx="736241" cy="920301"/>
          </a:xfrm>
          <a:custGeom>
            <a:avLst/>
            <a:gdLst/>
            <a:ahLst/>
            <a:cxnLst/>
            <a:rect l="l" t="t" r="r" b="b"/>
            <a:pathLst>
              <a:path w="736241" h="920301">
                <a:moveTo>
                  <a:pt x="0" y="0"/>
                </a:moveTo>
                <a:lnTo>
                  <a:pt x="736241" y="0"/>
                </a:lnTo>
                <a:lnTo>
                  <a:pt x="736241" y="920301"/>
                </a:lnTo>
                <a:lnTo>
                  <a:pt x="0" y="920301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382132" y="153604"/>
            <a:ext cx="1754336" cy="525855"/>
          </a:xfrm>
          <a:custGeom>
            <a:avLst/>
            <a:gdLst/>
            <a:ahLst/>
            <a:cxnLst/>
            <a:rect l="l" t="t" r="r" b="b"/>
            <a:pathLst>
              <a:path w="1754336" h="525855">
                <a:moveTo>
                  <a:pt x="0" y="0"/>
                </a:moveTo>
                <a:lnTo>
                  <a:pt x="1754336" y="0"/>
                </a:lnTo>
                <a:lnTo>
                  <a:pt x="1754336" y="525855"/>
                </a:lnTo>
                <a:lnTo>
                  <a:pt x="0" y="525855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98252" y="9452075"/>
            <a:ext cx="18386252" cy="1131500"/>
            <a:chOff x="0" y="0"/>
            <a:chExt cx="24515003" cy="15086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86669" cy="1508667"/>
            </a:xfrm>
            <a:custGeom>
              <a:avLst/>
              <a:gdLst/>
              <a:ahLst/>
              <a:cxnLst/>
              <a:rect l="l" t="t" r="r" b="b"/>
              <a:pathLst>
                <a:path w="15086669" h="1508667">
                  <a:moveTo>
                    <a:pt x="0" y="0"/>
                  </a:moveTo>
                  <a:lnTo>
                    <a:pt x="15086669" y="0"/>
                  </a:lnTo>
                  <a:lnTo>
                    <a:pt x="15086669" y="1508667"/>
                  </a:lnTo>
                  <a:lnTo>
                    <a:pt x="0" y="1508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12573608" y="453626"/>
              <a:ext cx="11941395" cy="583215"/>
              <a:chOff x="0" y="0"/>
              <a:chExt cx="2358794" cy="11520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358794" cy="115203"/>
              </a:xfrm>
              <a:custGeom>
                <a:avLst/>
                <a:gdLst/>
                <a:ahLst/>
                <a:cxnLst/>
                <a:rect l="l" t="t" r="r" b="b"/>
                <a:pathLst>
                  <a:path w="2358794" h="115203">
                    <a:moveTo>
                      <a:pt x="0" y="0"/>
                    </a:moveTo>
                    <a:lnTo>
                      <a:pt x="2358794" y="0"/>
                    </a:lnTo>
                    <a:lnTo>
                      <a:pt x="2358794" y="115203"/>
                    </a:lnTo>
                    <a:lnTo>
                      <a:pt x="0" y="115203"/>
                    </a:lnTo>
                    <a:close/>
                  </a:path>
                </a:pathLst>
              </a:custGeom>
              <a:solidFill>
                <a:srgbClr val="FBA503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2358794" cy="1818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195130" y="1993900"/>
            <a:ext cx="16370753" cy="624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2" lvl="1" indent="-377826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The materials and methods section should include the design of the study, the type of materials involved, a clear description of all comparisons, and the type of analysis used, to enable replication. For studies involving human participants a statement detailing ethical approval and consent should be included in the methods section.</a:t>
            </a:r>
          </a:p>
          <a:p>
            <a:pPr marL="755652" lvl="1" indent="-377826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study site’s map or figure (if any) should be put in this section with clear location coordinates.</a:t>
            </a:r>
          </a:p>
          <a:p>
            <a:pPr marL="755652" lvl="1" indent="-377826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This section may be divided into several sub-section that explains the methods. All materials should be written in the methods they are used, not as a separate sub-section from the methods.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238664" y="861138"/>
            <a:ext cx="6524335" cy="816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A5703"/>
                </a:solidFill>
                <a:latin typeface="Poppins Bold"/>
                <a:ea typeface="Poppins Bold"/>
                <a:cs typeface="Poppins Bold"/>
                <a:sym typeface="Poppins Bold"/>
              </a:rPr>
              <a:t>Materials/Methods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76426" y="9852442"/>
            <a:ext cx="5499351" cy="273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  <a:spcBef>
                <a:spcPct val="0"/>
              </a:spcBef>
            </a:pPr>
            <a:r>
              <a:rPr lang="en-US" sz="1428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5TH INTERNATIONAL CONFERENCE ON TROPICAL BIOLOGY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6179" y="9852442"/>
            <a:ext cx="9789618" cy="516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28" b="1" i="1">
                <a:solidFill>
                  <a:srgbClr val="FFFFFF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Biodiversity Beyond Boundaries: Advancing Global Education, Bio-Science, and Sustainable Landscapes</a:t>
            </a:r>
          </a:p>
          <a:p>
            <a:pPr algn="l">
              <a:lnSpc>
                <a:spcPts val="2000"/>
              </a:lnSpc>
              <a:spcBef>
                <a:spcPct val="0"/>
              </a:spcBef>
            </a:pPr>
            <a:endParaRPr lang="en-US" sz="1428" b="1" i="1">
              <a:solidFill>
                <a:srgbClr val="FFFFFF"/>
              </a:solidFill>
              <a:latin typeface="Poppins Medium Italics"/>
              <a:ea typeface="Poppins Medium Italics"/>
              <a:cs typeface="Poppins Medium Italics"/>
              <a:sym typeface="Poppins Medium Italics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231047" y="8857507"/>
            <a:ext cx="1126952" cy="1408690"/>
          </a:xfrm>
          <a:custGeom>
            <a:avLst/>
            <a:gdLst/>
            <a:ahLst/>
            <a:cxnLst/>
            <a:rect l="l" t="t" r="r" b="b"/>
            <a:pathLst>
              <a:path w="1126952" h="1408690">
                <a:moveTo>
                  <a:pt x="0" y="0"/>
                </a:moveTo>
                <a:lnTo>
                  <a:pt x="1126952" y="0"/>
                </a:lnTo>
                <a:lnTo>
                  <a:pt x="1126952" y="1408690"/>
                </a:lnTo>
                <a:lnTo>
                  <a:pt x="0" y="1408690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7999" y="1061158"/>
            <a:ext cx="611515" cy="6115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923" y="0"/>
                  </a:moveTo>
                  <a:lnTo>
                    <a:pt x="660877" y="0"/>
                  </a:lnTo>
                  <a:cubicBezTo>
                    <a:pt x="701170" y="0"/>
                    <a:pt x="739812" y="16006"/>
                    <a:pt x="768303" y="44497"/>
                  </a:cubicBezTo>
                  <a:cubicBezTo>
                    <a:pt x="796794" y="72988"/>
                    <a:pt x="812800" y="111630"/>
                    <a:pt x="812800" y="151923"/>
                  </a:cubicBezTo>
                  <a:lnTo>
                    <a:pt x="812800" y="660877"/>
                  </a:lnTo>
                  <a:cubicBezTo>
                    <a:pt x="812800" y="701170"/>
                    <a:pt x="796794" y="739812"/>
                    <a:pt x="768303" y="768303"/>
                  </a:cubicBezTo>
                  <a:cubicBezTo>
                    <a:pt x="739812" y="796794"/>
                    <a:pt x="701170" y="812800"/>
                    <a:pt x="660877" y="812800"/>
                  </a:cubicBezTo>
                  <a:lnTo>
                    <a:pt x="151923" y="812800"/>
                  </a:lnTo>
                  <a:cubicBezTo>
                    <a:pt x="111630" y="812800"/>
                    <a:pt x="72988" y="796794"/>
                    <a:pt x="44497" y="768303"/>
                  </a:cubicBezTo>
                  <a:cubicBezTo>
                    <a:pt x="16006" y="739812"/>
                    <a:pt x="0" y="701170"/>
                    <a:pt x="0" y="660877"/>
                  </a:cubicBezTo>
                  <a:lnTo>
                    <a:pt x="0" y="151923"/>
                  </a:lnTo>
                  <a:cubicBezTo>
                    <a:pt x="0" y="111630"/>
                    <a:pt x="16006" y="72988"/>
                    <a:pt x="44497" y="44497"/>
                  </a:cubicBezTo>
                  <a:cubicBezTo>
                    <a:pt x="72988" y="16006"/>
                    <a:pt x="111630" y="0"/>
                    <a:pt x="151923" y="0"/>
                  </a:cubicBezTo>
                  <a:close/>
                </a:path>
              </a:pathLst>
            </a:custGeom>
            <a:solidFill>
              <a:srgbClr val="22551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274012" flipH="1">
            <a:off x="17008254" y="-528336"/>
            <a:ext cx="2135086" cy="2135086"/>
          </a:xfrm>
          <a:custGeom>
            <a:avLst/>
            <a:gdLst/>
            <a:ahLst/>
            <a:cxnLst/>
            <a:rect l="l" t="t" r="r" b="b"/>
            <a:pathLst>
              <a:path w="2135086" h="2135086">
                <a:moveTo>
                  <a:pt x="2135086" y="0"/>
                </a:moveTo>
                <a:lnTo>
                  <a:pt x="0" y="0"/>
                </a:lnTo>
                <a:lnTo>
                  <a:pt x="0" y="2135085"/>
                </a:lnTo>
                <a:lnTo>
                  <a:pt x="2135086" y="2135085"/>
                </a:lnTo>
                <a:lnTo>
                  <a:pt x="2135086" y="0"/>
                </a:lnTo>
                <a:close/>
              </a:path>
            </a:pathLst>
          </a:custGeom>
          <a:blipFill>
            <a:blip>
              <a:alphaModFix amt="9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274012" flipH="1" flipV="1">
            <a:off x="-815485" y="-528336"/>
            <a:ext cx="2135086" cy="2135086"/>
          </a:xfrm>
          <a:custGeom>
            <a:avLst/>
            <a:gdLst/>
            <a:ahLst/>
            <a:cxnLst/>
            <a:rect l="l" t="t" r="r" b="b"/>
            <a:pathLst>
              <a:path w="2135086" h="2135086">
                <a:moveTo>
                  <a:pt x="2135086" y="2135085"/>
                </a:moveTo>
                <a:lnTo>
                  <a:pt x="0" y="2135085"/>
                </a:lnTo>
                <a:lnTo>
                  <a:pt x="0" y="0"/>
                </a:lnTo>
                <a:lnTo>
                  <a:pt x="2135086" y="0"/>
                </a:lnTo>
                <a:lnTo>
                  <a:pt x="2135086" y="2135085"/>
                </a:lnTo>
                <a:close/>
              </a:path>
            </a:pathLst>
          </a:custGeom>
          <a:blipFill>
            <a:blip>
              <a:alphaModFix amt="9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3769735" y="-2662172"/>
            <a:ext cx="4832077" cy="8229600"/>
          </a:xfrm>
          <a:custGeom>
            <a:avLst/>
            <a:gdLst/>
            <a:ahLst/>
            <a:cxnLst/>
            <a:rect l="l" t="t" r="r" b="b"/>
            <a:pathLst>
              <a:path w="4832077" h="8229600">
                <a:moveTo>
                  <a:pt x="0" y="0"/>
                </a:moveTo>
                <a:lnTo>
                  <a:pt x="4832077" y="0"/>
                </a:lnTo>
                <a:lnTo>
                  <a:pt x="483207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58889" y="9345896"/>
            <a:ext cx="736241" cy="920301"/>
          </a:xfrm>
          <a:custGeom>
            <a:avLst/>
            <a:gdLst/>
            <a:ahLst/>
            <a:cxnLst/>
            <a:rect l="l" t="t" r="r" b="b"/>
            <a:pathLst>
              <a:path w="736241" h="920301">
                <a:moveTo>
                  <a:pt x="0" y="0"/>
                </a:moveTo>
                <a:lnTo>
                  <a:pt x="736241" y="0"/>
                </a:lnTo>
                <a:lnTo>
                  <a:pt x="736241" y="920301"/>
                </a:lnTo>
                <a:lnTo>
                  <a:pt x="0" y="920301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382132" y="153604"/>
            <a:ext cx="1754336" cy="525855"/>
          </a:xfrm>
          <a:custGeom>
            <a:avLst/>
            <a:gdLst/>
            <a:ahLst/>
            <a:cxnLst/>
            <a:rect l="l" t="t" r="r" b="b"/>
            <a:pathLst>
              <a:path w="1754336" h="525855">
                <a:moveTo>
                  <a:pt x="0" y="0"/>
                </a:moveTo>
                <a:lnTo>
                  <a:pt x="1754336" y="0"/>
                </a:lnTo>
                <a:lnTo>
                  <a:pt x="1754336" y="525855"/>
                </a:lnTo>
                <a:lnTo>
                  <a:pt x="0" y="525855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98252" y="9452075"/>
            <a:ext cx="18386252" cy="1131500"/>
            <a:chOff x="0" y="0"/>
            <a:chExt cx="24515003" cy="15086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86669" cy="1508667"/>
            </a:xfrm>
            <a:custGeom>
              <a:avLst/>
              <a:gdLst/>
              <a:ahLst/>
              <a:cxnLst/>
              <a:rect l="l" t="t" r="r" b="b"/>
              <a:pathLst>
                <a:path w="15086669" h="1508667">
                  <a:moveTo>
                    <a:pt x="0" y="0"/>
                  </a:moveTo>
                  <a:lnTo>
                    <a:pt x="15086669" y="0"/>
                  </a:lnTo>
                  <a:lnTo>
                    <a:pt x="15086669" y="1508667"/>
                  </a:lnTo>
                  <a:lnTo>
                    <a:pt x="0" y="1508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12573608" y="453626"/>
              <a:ext cx="11941395" cy="583215"/>
              <a:chOff x="0" y="0"/>
              <a:chExt cx="2358794" cy="11520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358794" cy="115203"/>
              </a:xfrm>
              <a:custGeom>
                <a:avLst/>
                <a:gdLst/>
                <a:ahLst/>
                <a:cxnLst/>
                <a:rect l="l" t="t" r="r" b="b"/>
                <a:pathLst>
                  <a:path w="2358794" h="115203">
                    <a:moveTo>
                      <a:pt x="0" y="0"/>
                    </a:moveTo>
                    <a:lnTo>
                      <a:pt x="2358794" y="0"/>
                    </a:lnTo>
                    <a:lnTo>
                      <a:pt x="2358794" y="115203"/>
                    </a:lnTo>
                    <a:lnTo>
                      <a:pt x="0" y="115203"/>
                    </a:lnTo>
                    <a:close/>
                  </a:path>
                </a:pathLst>
              </a:custGeom>
              <a:solidFill>
                <a:srgbClr val="FBA503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2358794" cy="1818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195130" y="1993900"/>
            <a:ext cx="16370753" cy="5006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2" lvl="1" indent="-377826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 the key findings clearly using relevant figures, tables, charts, or other visualizations, focusing on results that directly address the study objectives.</a:t>
            </a:r>
          </a:p>
          <a:p>
            <a:pPr marL="755652" lvl="1" indent="-377826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Interpret the findings by highlighting important patterns, trends, relationships, differences, or unexpected results, and relate them to previous studies or existing knowledge where relevant.</a:t>
            </a:r>
          </a:p>
          <a:p>
            <a:pPr marL="755652" lvl="1" indent="-377826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section may be divided into several sub-sections based on the main findings or themes. Avoid repeating the same information across text, figures, and tables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238665" y="861138"/>
            <a:ext cx="609850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A5703"/>
                </a:solidFill>
                <a:latin typeface="Poppins Bold"/>
                <a:ea typeface="Poppins Bold"/>
                <a:cs typeface="Poppins Bold"/>
                <a:sym typeface="Poppins Bold"/>
              </a:rPr>
              <a:t>Result &amp; Discussion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76426" y="9852442"/>
            <a:ext cx="5499351" cy="273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  <a:spcBef>
                <a:spcPct val="0"/>
              </a:spcBef>
            </a:pPr>
            <a:r>
              <a:rPr lang="en-US" sz="1428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5TH INTERNATIONAL CONFERENCE ON TROPICAL BIOLOGY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6179" y="9852442"/>
            <a:ext cx="9789618" cy="516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28" b="1" i="1">
                <a:solidFill>
                  <a:srgbClr val="FFFFFF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Biodiversity Beyond Boundaries: Advancing Global Education, Bio-Science, and Sustainable Landscapes</a:t>
            </a:r>
          </a:p>
          <a:p>
            <a:pPr algn="l">
              <a:lnSpc>
                <a:spcPts val="2000"/>
              </a:lnSpc>
              <a:spcBef>
                <a:spcPct val="0"/>
              </a:spcBef>
            </a:pPr>
            <a:endParaRPr lang="en-US" sz="1428" b="1" i="1">
              <a:solidFill>
                <a:srgbClr val="FFFFFF"/>
              </a:solidFill>
              <a:latin typeface="Poppins Medium Italics"/>
              <a:ea typeface="Poppins Medium Italics"/>
              <a:cs typeface="Poppins Medium Italics"/>
              <a:sym typeface="Poppins Medium Italics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231047" y="8857507"/>
            <a:ext cx="1126952" cy="1408690"/>
          </a:xfrm>
          <a:custGeom>
            <a:avLst/>
            <a:gdLst/>
            <a:ahLst/>
            <a:cxnLst/>
            <a:rect l="l" t="t" r="r" b="b"/>
            <a:pathLst>
              <a:path w="1126952" h="1408690">
                <a:moveTo>
                  <a:pt x="0" y="0"/>
                </a:moveTo>
                <a:lnTo>
                  <a:pt x="1126952" y="0"/>
                </a:lnTo>
                <a:lnTo>
                  <a:pt x="1126952" y="1408690"/>
                </a:lnTo>
                <a:lnTo>
                  <a:pt x="0" y="1408690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7999" y="1061158"/>
            <a:ext cx="611515" cy="6115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923" y="0"/>
                  </a:moveTo>
                  <a:lnTo>
                    <a:pt x="660877" y="0"/>
                  </a:lnTo>
                  <a:cubicBezTo>
                    <a:pt x="701170" y="0"/>
                    <a:pt x="739812" y="16006"/>
                    <a:pt x="768303" y="44497"/>
                  </a:cubicBezTo>
                  <a:cubicBezTo>
                    <a:pt x="796794" y="72988"/>
                    <a:pt x="812800" y="111630"/>
                    <a:pt x="812800" y="151923"/>
                  </a:cubicBezTo>
                  <a:lnTo>
                    <a:pt x="812800" y="660877"/>
                  </a:lnTo>
                  <a:cubicBezTo>
                    <a:pt x="812800" y="701170"/>
                    <a:pt x="796794" y="739812"/>
                    <a:pt x="768303" y="768303"/>
                  </a:cubicBezTo>
                  <a:cubicBezTo>
                    <a:pt x="739812" y="796794"/>
                    <a:pt x="701170" y="812800"/>
                    <a:pt x="660877" y="812800"/>
                  </a:cubicBezTo>
                  <a:lnTo>
                    <a:pt x="151923" y="812800"/>
                  </a:lnTo>
                  <a:cubicBezTo>
                    <a:pt x="111630" y="812800"/>
                    <a:pt x="72988" y="796794"/>
                    <a:pt x="44497" y="768303"/>
                  </a:cubicBezTo>
                  <a:cubicBezTo>
                    <a:pt x="16006" y="739812"/>
                    <a:pt x="0" y="701170"/>
                    <a:pt x="0" y="660877"/>
                  </a:cubicBezTo>
                  <a:lnTo>
                    <a:pt x="0" y="151923"/>
                  </a:lnTo>
                  <a:cubicBezTo>
                    <a:pt x="0" y="111630"/>
                    <a:pt x="16006" y="72988"/>
                    <a:pt x="44497" y="44497"/>
                  </a:cubicBezTo>
                  <a:cubicBezTo>
                    <a:pt x="72988" y="16006"/>
                    <a:pt x="111630" y="0"/>
                    <a:pt x="151923" y="0"/>
                  </a:cubicBezTo>
                  <a:close/>
                </a:path>
              </a:pathLst>
            </a:custGeom>
            <a:solidFill>
              <a:srgbClr val="22551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274012" flipH="1">
            <a:off x="17008254" y="-528336"/>
            <a:ext cx="2135086" cy="2135086"/>
          </a:xfrm>
          <a:custGeom>
            <a:avLst/>
            <a:gdLst/>
            <a:ahLst/>
            <a:cxnLst/>
            <a:rect l="l" t="t" r="r" b="b"/>
            <a:pathLst>
              <a:path w="2135086" h="2135086">
                <a:moveTo>
                  <a:pt x="2135086" y="0"/>
                </a:moveTo>
                <a:lnTo>
                  <a:pt x="0" y="0"/>
                </a:lnTo>
                <a:lnTo>
                  <a:pt x="0" y="2135085"/>
                </a:lnTo>
                <a:lnTo>
                  <a:pt x="2135086" y="2135085"/>
                </a:lnTo>
                <a:lnTo>
                  <a:pt x="2135086" y="0"/>
                </a:lnTo>
                <a:close/>
              </a:path>
            </a:pathLst>
          </a:custGeom>
          <a:blipFill>
            <a:blip>
              <a:alphaModFix amt="9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274012" flipH="1" flipV="1">
            <a:off x="-815485" y="-528336"/>
            <a:ext cx="2135086" cy="2135086"/>
          </a:xfrm>
          <a:custGeom>
            <a:avLst/>
            <a:gdLst/>
            <a:ahLst/>
            <a:cxnLst/>
            <a:rect l="l" t="t" r="r" b="b"/>
            <a:pathLst>
              <a:path w="2135086" h="2135086">
                <a:moveTo>
                  <a:pt x="2135086" y="2135085"/>
                </a:moveTo>
                <a:lnTo>
                  <a:pt x="0" y="2135085"/>
                </a:lnTo>
                <a:lnTo>
                  <a:pt x="0" y="0"/>
                </a:lnTo>
                <a:lnTo>
                  <a:pt x="2135086" y="0"/>
                </a:lnTo>
                <a:lnTo>
                  <a:pt x="2135086" y="2135085"/>
                </a:lnTo>
                <a:close/>
              </a:path>
            </a:pathLst>
          </a:custGeom>
          <a:blipFill>
            <a:blip>
              <a:alphaModFix amt="9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3769735" y="-2662172"/>
            <a:ext cx="4832077" cy="8229600"/>
          </a:xfrm>
          <a:custGeom>
            <a:avLst/>
            <a:gdLst/>
            <a:ahLst/>
            <a:cxnLst/>
            <a:rect l="l" t="t" r="r" b="b"/>
            <a:pathLst>
              <a:path w="4832077" h="8229600">
                <a:moveTo>
                  <a:pt x="0" y="0"/>
                </a:moveTo>
                <a:lnTo>
                  <a:pt x="4832077" y="0"/>
                </a:lnTo>
                <a:lnTo>
                  <a:pt x="483207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58889" y="9345896"/>
            <a:ext cx="736241" cy="920301"/>
          </a:xfrm>
          <a:custGeom>
            <a:avLst/>
            <a:gdLst/>
            <a:ahLst/>
            <a:cxnLst/>
            <a:rect l="l" t="t" r="r" b="b"/>
            <a:pathLst>
              <a:path w="736241" h="920301">
                <a:moveTo>
                  <a:pt x="0" y="0"/>
                </a:moveTo>
                <a:lnTo>
                  <a:pt x="736241" y="0"/>
                </a:lnTo>
                <a:lnTo>
                  <a:pt x="736241" y="920301"/>
                </a:lnTo>
                <a:lnTo>
                  <a:pt x="0" y="920301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382132" y="153604"/>
            <a:ext cx="1754336" cy="525855"/>
          </a:xfrm>
          <a:custGeom>
            <a:avLst/>
            <a:gdLst/>
            <a:ahLst/>
            <a:cxnLst/>
            <a:rect l="l" t="t" r="r" b="b"/>
            <a:pathLst>
              <a:path w="1754336" h="525855">
                <a:moveTo>
                  <a:pt x="0" y="0"/>
                </a:moveTo>
                <a:lnTo>
                  <a:pt x="1754336" y="0"/>
                </a:lnTo>
                <a:lnTo>
                  <a:pt x="1754336" y="525855"/>
                </a:lnTo>
                <a:lnTo>
                  <a:pt x="0" y="525855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98252" y="9452075"/>
            <a:ext cx="18386252" cy="1131500"/>
            <a:chOff x="0" y="0"/>
            <a:chExt cx="24515003" cy="15086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86669" cy="1508667"/>
            </a:xfrm>
            <a:custGeom>
              <a:avLst/>
              <a:gdLst/>
              <a:ahLst/>
              <a:cxnLst/>
              <a:rect l="l" t="t" r="r" b="b"/>
              <a:pathLst>
                <a:path w="15086669" h="1508667">
                  <a:moveTo>
                    <a:pt x="0" y="0"/>
                  </a:moveTo>
                  <a:lnTo>
                    <a:pt x="15086669" y="0"/>
                  </a:lnTo>
                  <a:lnTo>
                    <a:pt x="15086669" y="1508667"/>
                  </a:lnTo>
                  <a:lnTo>
                    <a:pt x="0" y="1508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12573608" y="453626"/>
              <a:ext cx="11941395" cy="583215"/>
              <a:chOff x="0" y="0"/>
              <a:chExt cx="2358794" cy="11520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358794" cy="115203"/>
              </a:xfrm>
              <a:custGeom>
                <a:avLst/>
                <a:gdLst/>
                <a:ahLst/>
                <a:cxnLst/>
                <a:rect l="l" t="t" r="r" b="b"/>
                <a:pathLst>
                  <a:path w="2358794" h="115203">
                    <a:moveTo>
                      <a:pt x="0" y="0"/>
                    </a:moveTo>
                    <a:lnTo>
                      <a:pt x="2358794" y="0"/>
                    </a:lnTo>
                    <a:lnTo>
                      <a:pt x="2358794" y="115203"/>
                    </a:lnTo>
                    <a:lnTo>
                      <a:pt x="0" y="115203"/>
                    </a:lnTo>
                    <a:close/>
                  </a:path>
                </a:pathLst>
              </a:custGeom>
              <a:solidFill>
                <a:srgbClr val="FBA503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2358794" cy="1818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195130" y="1993900"/>
            <a:ext cx="16370753" cy="314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2" lvl="1" indent="-377826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The section should clearly state the main conclusions of the research and provide a clear explanation of their importance and relevance. This section should not contain discussion anymore. Please write the conclusions as a paragraph, not per point. Summary illustrations and recommendation may be included in this section (if any).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238665" y="861138"/>
            <a:ext cx="4085935" cy="816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A5703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76426" y="9852442"/>
            <a:ext cx="5499351" cy="273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  <a:spcBef>
                <a:spcPct val="0"/>
              </a:spcBef>
            </a:pPr>
            <a:r>
              <a:rPr lang="en-US" sz="1428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5TH INTERNATIONAL CONFERENCE ON TROPICAL BIOLOGY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6179" y="9852442"/>
            <a:ext cx="9789618" cy="516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28" b="1" i="1">
                <a:solidFill>
                  <a:srgbClr val="FFFFFF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Biodiversity Beyond Boundaries: Advancing Global Education, Bio-Science, and Sustainable Landscapes</a:t>
            </a:r>
          </a:p>
          <a:p>
            <a:pPr algn="l">
              <a:lnSpc>
                <a:spcPts val="2000"/>
              </a:lnSpc>
              <a:spcBef>
                <a:spcPct val="0"/>
              </a:spcBef>
            </a:pPr>
            <a:endParaRPr lang="en-US" sz="1428" b="1" i="1">
              <a:solidFill>
                <a:srgbClr val="FFFFFF"/>
              </a:solidFill>
              <a:latin typeface="Poppins Medium Italics"/>
              <a:ea typeface="Poppins Medium Italics"/>
              <a:cs typeface="Poppins Medium Italics"/>
              <a:sym typeface="Poppins Medium Italics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231047" y="8857507"/>
            <a:ext cx="1126952" cy="1408690"/>
          </a:xfrm>
          <a:custGeom>
            <a:avLst/>
            <a:gdLst/>
            <a:ahLst/>
            <a:cxnLst/>
            <a:rect l="l" t="t" r="r" b="b"/>
            <a:pathLst>
              <a:path w="1126952" h="1408690">
                <a:moveTo>
                  <a:pt x="0" y="0"/>
                </a:moveTo>
                <a:lnTo>
                  <a:pt x="1126952" y="0"/>
                </a:lnTo>
                <a:lnTo>
                  <a:pt x="1126952" y="1408690"/>
                </a:lnTo>
                <a:lnTo>
                  <a:pt x="0" y="1408690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 rot="698173">
            <a:off x="12991382" y="8572260"/>
            <a:ext cx="1417582" cy="1389231"/>
          </a:xfrm>
          <a:custGeom>
            <a:avLst/>
            <a:gdLst/>
            <a:ahLst/>
            <a:cxnLst/>
            <a:rect l="l" t="t" r="r" b="b"/>
            <a:pathLst>
              <a:path w="1417582" h="1389231">
                <a:moveTo>
                  <a:pt x="0" y="0"/>
                </a:moveTo>
                <a:lnTo>
                  <a:pt x="1417583" y="0"/>
                </a:lnTo>
                <a:lnTo>
                  <a:pt x="1417583" y="1389231"/>
                </a:lnTo>
                <a:lnTo>
                  <a:pt x="0" y="1389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866318" y="2035910"/>
            <a:ext cx="2533304" cy="1044784"/>
          </a:xfrm>
          <a:custGeom>
            <a:avLst/>
            <a:gdLst/>
            <a:ahLst/>
            <a:cxnLst/>
            <a:rect l="l" t="t" r="r" b="b"/>
            <a:pathLst>
              <a:path w="2533304" h="1044784">
                <a:moveTo>
                  <a:pt x="0" y="0"/>
                </a:moveTo>
                <a:lnTo>
                  <a:pt x="2533304" y="0"/>
                </a:lnTo>
                <a:lnTo>
                  <a:pt x="2533304" y="1044784"/>
                </a:lnTo>
                <a:lnTo>
                  <a:pt x="0" y="1044784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399622" y="2001509"/>
            <a:ext cx="890869" cy="1113586"/>
          </a:xfrm>
          <a:custGeom>
            <a:avLst/>
            <a:gdLst/>
            <a:ahLst/>
            <a:cxnLst/>
            <a:rect l="l" t="t" r="r" b="b"/>
            <a:pathLst>
              <a:path w="890869" h="1113586">
                <a:moveTo>
                  <a:pt x="0" y="0"/>
                </a:moveTo>
                <a:lnTo>
                  <a:pt x="890869" y="0"/>
                </a:lnTo>
                <a:lnTo>
                  <a:pt x="890869" y="1113586"/>
                </a:lnTo>
                <a:lnTo>
                  <a:pt x="0" y="1113586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3366051">
            <a:off x="11823" y="8854032"/>
            <a:ext cx="1420407" cy="1856741"/>
          </a:xfrm>
          <a:custGeom>
            <a:avLst/>
            <a:gdLst/>
            <a:ahLst/>
            <a:cxnLst/>
            <a:rect l="l" t="t" r="r" b="b"/>
            <a:pathLst>
              <a:path w="1420407" h="1856741">
                <a:moveTo>
                  <a:pt x="0" y="0"/>
                </a:moveTo>
                <a:lnTo>
                  <a:pt x="1420406" y="0"/>
                </a:lnTo>
                <a:lnTo>
                  <a:pt x="1420406" y="1856741"/>
                </a:lnTo>
                <a:lnTo>
                  <a:pt x="0" y="1856741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5746559">
            <a:off x="16985816" y="138481"/>
            <a:ext cx="2208309" cy="1446442"/>
          </a:xfrm>
          <a:custGeom>
            <a:avLst/>
            <a:gdLst/>
            <a:ahLst/>
            <a:cxnLst/>
            <a:rect l="l" t="t" r="r" b="b"/>
            <a:pathLst>
              <a:path w="2208309" h="1446442">
                <a:moveTo>
                  <a:pt x="0" y="0"/>
                </a:moveTo>
                <a:lnTo>
                  <a:pt x="2208309" y="0"/>
                </a:lnTo>
                <a:lnTo>
                  <a:pt x="2208309" y="1446443"/>
                </a:lnTo>
                <a:lnTo>
                  <a:pt x="0" y="144644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837359" y="6413755"/>
            <a:ext cx="2450641" cy="3873245"/>
          </a:xfrm>
          <a:custGeom>
            <a:avLst/>
            <a:gdLst/>
            <a:ahLst/>
            <a:cxnLst/>
            <a:rect l="l" t="t" r="r" b="b"/>
            <a:pathLst>
              <a:path w="7342965" h="8229600">
                <a:moveTo>
                  <a:pt x="0" y="0"/>
                </a:moveTo>
                <a:lnTo>
                  <a:pt x="7342965" y="0"/>
                </a:lnTo>
                <a:lnTo>
                  <a:pt x="73429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4E40D4-EAC2-AC63-EF94-9E30DB9D502F}"/>
              </a:ext>
            </a:extLst>
          </p:cNvPr>
          <p:cNvGrpSpPr/>
          <p:nvPr/>
        </p:nvGrpSpPr>
        <p:grpSpPr>
          <a:xfrm>
            <a:off x="8896102" y="3695700"/>
            <a:ext cx="6535752" cy="4384349"/>
            <a:chOff x="6036254" y="5185831"/>
            <a:chExt cx="6535752" cy="4384349"/>
          </a:xfrm>
        </p:grpSpPr>
        <p:sp>
          <p:nvSpPr>
            <p:cNvPr id="3" name="Freeform 3"/>
            <p:cNvSpPr/>
            <p:nvPr/>
          </p:nvSpPr>
          <p:spPr>
            <a:xfrm>
              <a:off x="6359613" y="786038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6359613" y="8675137"/>
              <a:ext cx="571500" cy="583163"/>
            </a:xfrm>
            <a:custGeom>
              <a:avLst/>
              <a:gdLst/>
              <a:ahLst/>
              <a:cxnLst/>
              <a:rect l="l" t="t" r="r" b="b"/>
              <a:pathLst>
                <a:path w="571500" h="583163">
                  <a:moveTo>
                    <a:pt x="0" y="0"/>
                  </a:moveTo>
                  <a:lnTo>
                    <a:pt x="571500" y="0"/>
                  </a:lnTo>
                  <a:lnTo>
                    <a:pt x="571500" y="583163"/>
                  </a:lnTo>
                  <a:lnTo>
                    <a:pt x="0" y="583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6036254" y="5185831"/>
              <a:ext cx="6110307" cy="1340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679"/>
                </a:lnSpc>
              </a:pPr>
              <a:r>
                <a:rPr lang="en-US" sz="8799" b="1" dirty="0">
                  <a:solidFill>
                    <a:srgbClr val="0A570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Thank You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54110" y="6573936"/>
              <a:ext cx="6317896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 b="1">
                  <a:solidFill>
                    <a:srgbClr val="2E2E2E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Let’s Connect with Us!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65887" y="7900394"/>
              <a:ext cx="4762500" cy="424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1" dirty="0">
                  <a:solidFill>
                    <a:srgbClr val="0A570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Your email address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65887" y="8720973"/>
              <a:ext cx="4762500" cy="849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1" dirty="0">
                  <a:solidFill>
                    <a:srgbClr val="0A570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Other preferred methods of communication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85AB2640-942F-6101-D153-8CFD1FE0D8C8}"/>
              </a:ext>
            </a:extLst>
          </p:cNvPr>
          <p:cNvSpPr/>
          <p:nvPr/>
        </p:nvSpPr>
        <p:spPr>
          <a:xfrm>
            <a:off x="1447800" y="1790700"/>
            <a:ext cx="6487295" cy="68844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498</Words>
  <Application>Microsoft Office PowerPoint</Application>
  <PresentationFormat>Custom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Poppins Medium</vt:lpstr>
      <vt:lpstr>Poppins Bold</vt:lpstr>
      <vt:lpstr>Calibri (MS)</vt:lpstr>
      <vt:lpstr>Poppins Semi-Bold</vt:lpstr>
      <vt:lpstr>Poppins Medium Italics</vt:lpstr>
      <vt:lpstr>Calibri (MS) Italics</vt:lpstr>
      <vt:lpstr>Arial</vt:lpstr>
      <vt:lpstr>Calibri (MS)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PPT ICTB</dc:title>
  <dc:creator>haritz nugraha</dc:creator>
  <cp:lastModifiedBy>haritz nugraha</cp:lastModifiedBy>
  <cp:revision>7</cp:revision>
  <dcterms:created xsi:type="dcterms:W3CDTF">2006-08-16T00:00:00Z</dcterms:created>
  <dcterms:modified xsi:type="dcterms:W3CDTF">2026-09-14T10:25:42Z</dcterms:modified>
  <dc:identifier>DAHUGXDEUA8</dc:identifier>
</cp:coreProperties>
</file>